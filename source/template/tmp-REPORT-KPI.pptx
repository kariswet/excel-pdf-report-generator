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n-ID" sz="1400" b="1" u="none" strike="noStrike">
                <a:solidFill>
                  <a:srgbClr val="FFFFFF"/>
                </a:solidFill>
                <a:uFillTx/>
                <a:latin typeface="Arial"/>
                <a:ea typeface="Arial"/>
              </a:rPr>
              <a:t>Daily Exposure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6.2825533976662504E-2"/>
          <c:y val="0.11994621246077999"/>
          <c:w val="0.91670367828158394"/>
          <c:h val="0.68892873151053302"/>
        </c:manualLayout>
      </c:layout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value</c:v>
                </c:pt>
              </c:strCache>
            </c:strRef>
          </c:tx>
          <c:spPr>
            <a:ln w="28440" cap="rnd">
              <a:solidFill>
                <a:srgbClr val="4472C4"/>
              </a:solidFill>
              <a:round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lang="en-US" sz="1000" b="0" u="none" strike="noStrike">
                    <a:solidFill>
                      <a:srgbClr val="FFFFFF"/>
                    </a:solidFill>
                    <a:uFillTx/>
                    <a:latin typeface="Arial"/>
                    <a:ea typeface="Arial"/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28440">
                      <a:solidFill>
                        <a:srgbClr val="000000"/>
                      </a:solidFill>
                    </a:ln>
                  </c:spPr>
                </c15:leaderLines>
              </c:ext>
            </c:extLst>
          </c:dLbls>
          <c:cat>
            <c:numRef>
              <c:f>categories</c:f>
              <c:numCache>
                <c:formatCode>d/mm/yyyy;@</c:formatCode>
                <c:ptCount val="7"/>
                <c:pt idx="0">
                  <c:v>45656</c:v>
                </c:pt>
                <c:pt idx="1">
                  <c:v>45657</c:v>
                </c:pt>
                <c:pt idx="2">
                  <c:v>45658</c:v>
                </c:pt>
                <c:pt idx="3">
                  <c:v>45659</c:v>
                </c:pt>
                <c:pt idx="4">
                  <c:v>45660</c:v>
                </c:pt>
                <c:pt idx="5">
                  <c:v>45661</c:v>
                </c:pt>
                <c:pt idx="6">
                  <c:v>45662</c:v>
                </c:pt>
              </c:numCache>
            </c:numRef>
          </c:cat>
          <c:val>
            <c:numRef>
              <c:f>0</c:f>
              <c:numCache>
                <c:formatCode>General</c:formatCode>
                <c:ptCount val="7"/>
                <c:pt idx="0">
                  <c:v>1874</c:v>
                </c:pt>
                <c:pt idx="1">
                  <c:v>4355</c:v>
                </c:pt>
                <c:pt idx="2">
                  <c:v>2298</c:v>
                </c:pt>
                <c:pt idx="3">
                  <c:v>2015</c:v>
                </c:pt>
                <c:pt idx="4">
                  <c:v>2225</c:v>
                </c:pt>
                <c:pt idx="5">
                  <c:v>1450</c:v>
                </c:pt>
                <c:pt idx="6">
                  <c:v>1448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6D-4665-B92D-B0F07E951C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0">
              <a:noFill/>
            </a:ln>
          </c:spPr>
        </c:hiLowLines>
        <c:smooth val="0"/>
        <c:axId val="44673750"/>
        <c:axId val="73432200"/>
      </c:lineChart>
      <c:dateAx>
        <c:axId val="44673750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lang="en-ID" sz="1000" b="0" u="none" strike="noStrike">
                    <a:solidFill>
                      <a:srgbClr val="FFFFFF"/>
                    </a:solidFill>
                    <a:uFillTx/>
                    <a:latin typeface="Arial"/>
                    <a:ea typeface="Arial"/>
                  </a:rPr>
                  <a:t>Tanggal</a:t>
                </a:r>
              </a:p>
            </c:rich>
          </c:tx>
          <c:layout>
            <c:manualLayout>
              <c:xMode val="edge"/>
              <c:yMode val="edge"/>
              <c:x val="0.479226389954375"/>
              <c:y val="0.92424921559838602"/>
            </c:manualLayout>
          </c:layout>
          <c:overlay val="0"/>
          <c:spPr>
            <a:noFill/>
            <a:ln w="0">
              <a:noFill/>
            </a:ln>
          </c:spPr>
        </c:title>
        <c:numFmt formatCode="d/mm/yyyy;@" sourceLinked="0"/>
        <c:majorTickMark val="out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lang="en-US" sz="700" b="0" u="none" strike="noStrike">
                <a:solidFill>
                  <a:srgbClr val="FFFFFF"/>
                </a:solidFill>
                <a:uFillTx/>
                <a:latin typeface="Arial"/>
                <a:ea typeface="Arial"/>
              </a:defRPr>
            </a:pPr>
            <a:endParaRPr lang="en-US"/>
          </a:p>
        </c:txPr>
        <c:crossAx val="73432200"/>
        <c:crosses val="autoZero"/>
        <c:auto val="1"/>
        <c:lblOffset val="100"/>
        <c:baseTimeUnit val="days"/>
      </c:dateAx>
      <c:valAx>
        <c:axId val="7343220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lang="en-ID" sz="1000" b="0" u="none" strike="noStrike">
                    <a:solidFill>
                      <a:srgbClr val="FFFFFF"/>
                    </a:solidFill>
                    <a:uFillTx/>
                    <a:latin typeface="Arial"/>
                    <a:ea typeface="Arial"/>
                  </a:rPr>
                  <a:t>Jumlah Postingan</a:t>
                </a:r>
              </a:p>
            </c:rich>
          </c:tx>
          <c:layout>
            <c:manualLayout>
              <c:xMode val="edge"/>
              <c:yMode val="edge"/>
              <c:x val="2.4225784309767E-3"/>
              <c:y val="0.34146122814881202"/>
            </c:manualLayout>
          </c:layout>
          <c:overlay val="0"/>
          <c:spPr>
            <a:noFill/>
            <a:ln w="0">
              <a:noFill/>
            </a:ln>
          </c:spPr>
        </c:title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lang="en-US" sz="800" b="0" u="none" strike="noStrike">
                <a:solidFill>
                  <a:srgbClr val="FFFFFF"/>
                </a:solidFill>
                <a:uFillTx/>
                <a:latin typeface="Arial"/>
                <a:ea typeface="Arial"/>
              </a:defRPr>
            </a:pPr>
            <a:endParaRPr lang="en-US"/>
          </a:p>
        </c:txPr>
        <c:crossAx val="44673750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  <c:showDLblsOverMax val="1"/>
  </c:chart>
  <c:spPr>
    <a:noFill/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D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210F8EB-D121-42C6-92B0-ED94A1067468}" type="slidenum"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I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D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8F01A17-58FD-418F-A612-C969D2EA0A43}" type="slidenum">
              <a:rPr lang="en-ID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D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38D0645-6BBB-405D-9CD0-D12FD6E3C183}" type="slidenum">
              <a:rPr lang="en-ID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D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ECB8D95-442C-458E-A9FC-183AE63423AE}" type="slidenum">
              <a:rPr lang="en-ID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D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6D1BE9E-81DF-44F1-952B-940D7E374BA6}" type="slidenum">
              <a:rPr lang="en-ID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EAF482-8256-43A7-8879-7786BE255ECD}" type="slidenum">
              <a: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3D751F-F055-4DD7-A6B8-95C70087FB0F}" type="slidenum">
              <a: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7F6D4A-33EE-4A99-B548-79E81A6E8B2F}" type="slidenum">
              <a: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D948C8-217A-4179-9471-C23C3158EAC9}" type="slidenum">
              <a: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DE6C83-1CCF-472B-9BAA-976204FBD99D}" type="slidenum">
              <a: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6D7420-E1E8-4F27-B314-C0D97850BEBF}" type="slidenum">
              <a: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3BC15B-0AFC-421B-82A8-AE7D0C35B4F2}" type="slidenum">
              <a: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0D51C0-E954-4157-8267-DC6FB90A5129}" type="slidenum">
              <a: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D9B699-E96E-4E5F-ABD0-7BA1D9CD6E82}" type="slidenum">
              <a: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5BB0F0-2633-444F-9D0C-D9731B84465F}" type="slidenum">
              <a: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07DE85-5763-45F7-8B63-3DACC39B15C4}" type="slidenum">
              <a:rPr lang="en-ID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chart" Target="../charts/chart1.xml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buNone/>
            </a:pPr>
            <a:endParaRPr lang="en-ID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Freeform 2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D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69" name="Group 3"/>
          <p:cNvGrpSpPr/>
          <p:nvPr/>
        </p:nvGrpSpPr>
        <p:grpSpPr>
          <a:xfrm>
            <a:off x="-37800" y="257040"/>
            <a:ext cx="5868360" cy="6344280"/>
            <a:chOff x="-37800" y="257040"/>
            <a:chExt cx="5868360" cy="6344280"/>
          </a:xfrm>
        </p:grpSpPr>
        <p:sp>
          <p:nvSpPr>
            <p:cNvPr id="70" name="Freeform 4"/>
            <p:cNvSpPr/>
            <p:nvPr/>
          </p:nvSpPr>
          <p:spPr>
            <a:xfrm rot="16200000">
              <a:off x="-144000" y="626400"/>
              <a:ext cx="6344280" cy="5605560"/>
            </a:xfrm>
            <a:custGeom>
              <a:avLst/>
              <a:gdLst>
                <a:gd name="textAreaLeft" fmla="*/ 0 w 6344280"/>
                <a:gd name="textAreaRight" fmla="*/ 6344640 w 6344280"/>
                <a:gd name="textAreaTop" fmla="*/ 0 h 5605560"/>
                <a:gd name="textAreaBottom" fmla="*/ 5605920 h 5605560"/>
              </a:gdLst>
              <a:ahLst/>
              <a:cxnLst/>
              <a:rect l="textAreaLeft" t="textAreaTop" r="textAreaRight" b="textAreaBottom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1F27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D" sz="12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1" name="TextBox 5"/>
            <p:cNvSpPr/>
            <p:nvPr/>
          </p:nvSpPr>
          <p:spPr>
            <a:xfrm rot="16200000">
              <a:off x="-713520" y="932760"/>
              <a:ext cx="6344280" cy="499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3840" tIns="33840" rIns="33840" bIns="33840" anchor="ctr">
              <a:noAutofit/>
            </a:bodyPr>
            <a:lstStyle/>
            <a:p>
              <a:pPr algn="ctr" defTabSz="914400">
                <a:lnSpc>
                  <a:spcPts val="2659"/>
                </a:lnSpc>
              </a:pPr>
              <a:endPara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72" name="Group 6"/>
          <p:cNvGrpSpPr/>
          <p:nvPr/>
        </p:nvGrpSpPr>
        <p:grpSpPr>
          <a:xfrm>
            <a:off x="0" y="1041840"/>
            <a:ext cx="12191760" cy="4677480"/>
            <a:chOff x="0" y="1041840"/>
            <a:chExt cx="12191760" cy="4677480"/>
          </a:xfrm>
        </p:grpSpPr>
        <p:sp>
          <p:nvSpPr>
            <p:cNvPr id="73" name="Freeform 7"/>
            <p:cNvSpPr/>
            <p:nvPr/>
          </p:nvSpPr>
          <p:spPr>
            <a:xfrm>
              <a:off x="0" y="1138320"/>
              <a:ext cx="12191760" cy="458100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4581000"/>
                <a:gd name="textAreaBottom" fmla="*/ 4581360 h 4581000"/>
              </a:gdLst>
              <a:ahLst/>
              <a:cxnLst/>
              <a:rect l="textAreaLeft" t="textAreaTop" r="textAreaRight" b="textAreaBottom"/>
              <a:pathLst>
                <a:path w="4816592" h="1809963">
                  <a:moveTo>
                    <a:pt x="0" y="0"/>
                  </a:moveTo>
                  <a:lnTo>
                    <a:pt x="4816592" y="0"/>
                  </a:lnTo>
                  <a:lnTo>
                    <a:pt x="4816592" y="1809963"/>
                  </a:lnTo>
                  <a:lnTo>
                    <a:pt x="0" y="1809963"/>
                  </a:lnTo>
                  <a:close/>
                </a:path>
              </a:pathLst>
            </a:custGeom>
            <a:solidFill>
              <a:srgbClr val="1F27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D" sz="12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4" name="TextBox 8"/>
            <p:cNvSpPr/>
            <p:nvPr/>
          </p:nvSpPr>
          <p:spPr>
            <a:xfrm>
              <a:off x="0" y="1041840"/>
              <a:ext cx="2057040" cy="215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3840" tIns="33840" rIns="33840" bIns="33840" anchor="ctr">
              <a:noAutofit/>
            </a:bodyPr>
            <a:lstStyle/>
            <a:p>
              <a:pPr algn="ctr" defTabSz="914400">
                <a:lnSpc>
                  <a:spcPts val="2659"/>
                </a:lnSpc>
              </a:pPr>
              <a:endPara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75" name="Group 9"/>
          <p:cNvGrpSpPr/>
          <p:nvPr/>
        </p:nvGrpSpPr>
        <p:grpSpPr>
          <a:xfrm>
            <a:off x="-354600" y="1064880"/>
            <a:ext cx="6541920" cy="4727880"/>
            <a:chOff x="-354600" y="1064880"/>
            <a:chExt cx="6541920" cy="4727880"/>
          </a:xfrm>
        </p:grpSpPr>
        <p:sp>
          <p:nvSpPr>
            <p:cNvPr id="76" name="Freeform 10"/>
            <p:cNvSpPr/>
            <p:nvPr/>
          </p:nvSpPr>
          <p:spPr>
            <a:xfrm>
              <a:off x="-354600" y="1064880"/>
              <a:ext cx="6541920" cy="4727880"/>
            </a:xfrm>
            <a:custGeom>
              <a:avLst/>
              <a:gdLst>
                <a:gd name="textAreaLeft" fmla="*/ 0 w 6541920"/>
                <a:gd name="textAreaRight" fmla="*/ 6542280 w 6541920"/>
                <a:gd name="textAreaTop" fmla="*/ 0 h 4727880"/>
                <a:gd name="textAreaBottom" fmla="*/ 4728240 h 4727880"/>
              </a:gdLst>
              <a:ahLst/>
              <a:cxnLst/>
              <a:rect l="textAreaLeft" t="textAreaTop" r="textAreaRight" b="textAreaBottom"/>
              <a:pathLst>
                <a:path w="6350000" h="5778500">
                  <a:moveTo>
                    <a:pt x="6350000" y="2889250"/>
                  </a:moveTo>
                  <a:cubicBezTo>
                    <a:pt x="6350000" y="1258570"/>
                    <a:pt x="5205730" y="0"/>
                    <a:pt x="3432810" y="0"/>
                  </a:cubicBezTo>
                  <a:cubicBezTo>
                    <a:pt x="2174240" y="0"/>
                    <a:pt x="0" y="0"/>
                    <a:pt x="0" y="0"/>
                  </a:cubicBezTo>
                  <a:lnTo>
                    <a:pt x="0" y="2889250"/>
                  </a:lnTo>
                  <a:lnTo>
                    <a:pt x="0" y="5778500"/>
                  </a:lnTo>
                  <a:cubicBezTo>
                    <a:pt x="0" y="5778500"/>
                    <a:pt x="2174240" y="5778500"/>
                    <a:pt x="3432810" y="5778500"/>
                  </a:cubicBezTo>
                  <a:cubicBezTo>
                    <a:pt x="5205730" y="5778500"/>
                    <a:pt x="6350000" y="4519930"/>
                    <a:pt x="6350000" y="2889250"/>
                  </a:cubicBez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D" sz="12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77" name="TextBox 11"/>
          <p:cNvSpPr/>
          <p:nvPr/>
        </p:nvSpPr>
        <p:spPr>
          <a:xfrm>
            <a:off x="6302520" y="1557720"/>
            <a:ext cx="6041880" cy="184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4000" b="0" u="none" strike="noStrike">
                <a:solidFill>
                  <a:srgbClr val="F1B316"/>
                </a:solidFill>
                <a:effectLst/>
                <a:uFillTx/>
                <a:latin typeface="Arial Black"/>
              </a:rPr>
              <a:t>LAPORAN</a:t>
            </a:r>
            <a:endParaRPr lang="en-ID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4000" b="0" u="none" strike="noStrike">
                <a:solidFill>
                  <a:srgbClr val="F1B316"/>
                </a:solidFill>
                <a:effectLst/>
                <a:uFillTx/>
                <a:latin typeface="Arial Black"/>
              </a:rPr>
              <a:t>KEY PERFORMANCE INDICATORS (KPI)</a:t>
            </a:r>
            <a:endParaRPr lang="en-ID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Picture 13" descr="A black background with yellow and white text&#10;&#10;Description automatically generated"/>
          <p:cNvPicPr/>
          <p:nvPr/>
        </p:nvPicPr>
        <p:blipFill>
          <a:blip r:embed="rId4"/>
          <a:stretch/>
        </p:blipFill>
        <p:spPr>
          <a:xfrm>
            <a:off x="4673520" y="177840"/>
            <a:ext cx="3468960" cy="113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Picture 14" descr="A black and red shield with white text&#10;&#10;Description automatically generated"/>
          <p:cNvPicPr/>
          <p:nvPr/>
        </p:nvPicPr>
        <p:blipFill>
          <a:blip r:embed="rId5"/>
          <a:stretch/>
        </p:blipFill>
        <p:spPr>
          <a:xfrm>
            <a:off x="10721160" y="177840"/>
            <a:ext cx="1470600" cy="98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Box 11"/>
          <p:cNvSpPr/>
          <p:nvPr/>
        </p:nvSpPr>
        <p:spPr>
          <a:xfrm>
            <a:off x="5734080" y="5027040"/>
            <a:ext cx="6381720" cy="33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F1B316"/>
                </a:solidFill>
                <a:effectLst/>
                <a:uFillTx/>
                <a:latin typeface="Arial Black"/>
              </a:rPr>
              <a:t>{date}</a:t>
            </a:r>
            <a:endParaRPr lang="en-ID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584280"/>
            <a:ext cx="12191760" cy="744480"/>
          </a:xfrm>
          <a:prstGeom prst="rect">
            <a:avLst/>
          </a:prstGeom>
          <a:solidFill>
            <a:srgbClr val="9A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ID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2" name="Picture 2" descr="Cartoon a cartoon of a child in uniform&#10;&#10;Description automatically generated"/>
          <p:cNvPicPr/>
          <p:nvPr/>
        </p:nvPicPr>
        <p:blipFill>
          <a:blip r:embed="rId2"/>
          <a:stretch/>
        </p:blipFill>
        <p:spPr>
          <a:xfrm>
            <a:off x="311040" y="90360"/>
            <a:ext cx="1163520" cy="16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Diamond 3"/>
          <p:cNvSpPr/>
          <p:nvPr/>
        </p:nvSpPr>
        <p:spPr>
          <a:xfrm>
            <a:off x="10639440" y="278280"/>
            <a:ext cx="1472760" cy="1302480"/>
          </a:xfrm>
          <a:prstGeom prst="diamond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ID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4" name="Picture 4" descr="A black and red shield with white text&#10;&#10;Description automatically generated"/>
          <p:cNvPicPr/>
          <p:nvPr/>
        </p:nvPicPr>
        <p:blipFill>
          <a:blip r:embed="rId3"/>
          <a:stretch/>
        </p:blipFill>
        <p:spPr>
          <a:xfrm>
            <a:off x="10639080" y="464400"/>
            <a:ext cx="1470600" cy="98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Box 11"/>
          <p:cNvSpPr/>
          <p:nvPr/>
        </p:nvSpPr>
        <p:spPr>
          <a:xfrm>
            <a:off x="1515240" y="591120"/>
            <a:ext cx="873612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4400" b="0" u="none" strike="noStrike">
                <a:solidFill>
                  <a:srgbClr val="F1B316"/>
                </a:solidFill>
                <a:effectLst/>
                <a:uFillTx/>
                <a:latin typeface="Arial Black"/>
              </a:rPr>
              <a:t>TREN EXPOSURE</a:t>
            </a:r>
            <a:endParaRPr lang="en-ID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oup 7"/>
          <p:cNvGrpSpPr/>
          <p:nvPr/>
        </p:nvGrpSpPr>
        <p:grpSpPr>
          <a:xfrm>
            <a:off x="8906040" y="1578600"/>
            <a:ext cx="3292560" cy="560880"/>
            <a:chOff x="8906040" y="1578600"/>
            <a:chExt cx="3292560" cy="560880"/>
          </a:xfrm>
        </p:grpSpPr>
        <p:sp>
          <p:nvSpPr>
            <p:cNvPr id="87" name="Text Box 18"/>
            <p:cNvSpPr/>
            <p:nvPr/>
          </p:nvSpPr>
          <p:spPr>
            <a:xfrm>
              <a:off x="8906040" y="1578600"/>
              <a:ext cx="1224360" cy="36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Exposure</a:t>
              </a:r>
              <a:endParaRPr lang="en-ID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Text Box 22"/>
            <p:cNvSpPr/>
            <p:nvPr/>
          </p:nvSpPr>
          <p:spPr>
            <a:xfrm>
              <a:off x="10451160" y="1587240"/>
              <a:ext cx="1502640" cy="36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Engagement</a:t>
              </a:r>
              <a:endParaRPr lang="en-ID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Text Box 23"/>
            <p:cNvSpPr/>
            <p:nvPr/>
          </p:nvSpPr>
          <p:spPr>
            <a:xfrm>
              <a:off x="8915040" y="1863000"/>
              <a:ext cx="1342800" cy="27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1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{v_exposure}</a:t>
              </a:r>
              <a:endParaRPr lang="en-ID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Text Box 27"/>
            <p:cNvSpPr/>
            <p:nvPr/>
          </p:nvSpPr>
          <p:spPr>
            <a:xfrm>
              <a:off x="10465200" y="1854720"/>
              <a:ext cx="1733400" cy="27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1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{v_engagement}</a:t>
              </a:r>
              <a:endParaRPr lang="en-ID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" name="Text Box 29"/>
          <p:cNvSpPr/>
          <p:nvPr/>
        </p:nvSpPr>
        <p:spPr>
          <a:xfrm>
            <a:off x="8906040" y="2223000"/>
            <a:ext cx="3285720" cy="323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Selama periode {date}, Kepolisian Indonesia aktif membagikan konten di lima platform media sosial yaitu {rank_1} dengan {v_rank_1} post, {rank_2} dengan {v_rank_2} post, {rank_3} dengan {v_rank_3}, {rank_4} {v_rank_4} post, dan {rank_5} dengan {v_rank_5} post</a:t>
            </a:r>
            <a:endParaRPr lang="en-ID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Berdasarkan grafik exposure harian, terlihat adanya perubahan dalam tingkat paparan konten. Puncak exposure terjadi pada {trendline_1} dengan nilai tertinggi sebesar {v_trendline_1}. Setelah itu, exposure menurun pada {trendline_2} menjadi {v_trendline_2} dan terus menurun secara bertahap hingga mencapai titik terendah sebesar {v_trendline_last} pada {trendline_last}</a:t>
            </a:r>
            <a:endParaRPr lang="en-ID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2" name="Chart 25"/>
          <p:cNvGraphicFramePr/>
          <p:nvPr/>
        </p:nvGraphicFramePr>
        <p:xfrm>
          <a:off x="16560" y="2451600"/>
          <a:ext cx="8915760" cy="4015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93" name="Group 45"/>
          <p:cNvGrpSpPr/>
          <p:nvPr/>
        </p:nvGrpSpPr>
        <p:grpSpPr>
          <a:xfrm>
            <a:off x="1216800" y="1584360"/>
            <a:ext cx="6247440" cy="586921"/>
            <a:chOff x="1216800" y="1584360"/>
            <a:chExt cx="6247440" cy="586921"/>
          </a:xfrm>
        </p:grpSpPr>
        <p:grpSp>
          <p:nvGrpSpPr>
            <p:cNvPr id="94" name="Group 6"/>
            <p:cNvGrpSpPr/>
            <p:nvPr/>
          </p:nvGrpSpPr>
          <p:grpSpPr>
            <a:xfrm>
              <a:off x="1216800" y="1584360"/>
              <a:ext cx="6247440" cy="586921"/>
              <a:chOff x="1216800" y="1584360"/>
              <a:chExt cx="6247440" cy="586921"/>
            </a:xfrm>
          </p:grpSpPr>
          <p:pic>
            <p:nvPicPr>
              <p:cNvPr id="95" name="Picture 16" descr="icons8-instagram-100"/>
              <p:cNvPicPr/>
              <p:nvPr/>
            </p:nvPicPr>
            <p:blipFill>
              <a:blip r:embed="rId5"/>
              <a:stretch/>
            </p:blipFill>
            <p:spPr>
              <a:xfrm>
                <a:off x="1216800" y="1648080"/>
                <a:ext cx="456840" cy="4568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96" name="Picture 20" descr="icons8-facebook-100"/>
              <p:cNvPicPr/>
              <p:nvPr/>
            </p:nvPicPr>
            <p:blipFill>
              <a:blip r:embed="rId6"/>
              <a:stretch/>
            </p:blipFill>
            <p:spPr>
              <a:xfrm>
                <a:off x="3760200" y="1644840"/>
                <a:ext cx="456840" cy="4568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97" name="Picture 21" descr="icons8-youtube-96"/>
              <p:cNvPicPr/>
              <p:nvPr/>
            </p:nvPicPr>
            <p:blipFill>
              <a:blip r:embed="rId7"/>
              <a:stretch/>
            </p:blipFill>
            <p:spPr>
              <a:xfrm>
                <a:off x="6105600" y="1643760"/>
                <a:ext cx="456840" cy="4568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98" name="Text Box 18"/>
              <p:cNvSpPr/>
              <p:nvPr/>
            </p:nvSpPr>
            <p:spPr>
              <a:xfrm>
                <a:off x="1662120" y="1587240"/>
                <a:ext cx="922320" cy="3371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600" b="0" u="none" strike="noStrike" dirty="0">
                    <a:solidFill>
                      <a:schemeClr val="lt1"/>
                    </a:solidFill>
                    <a:effectLst/>
                    <a:uFillTx/>
                    <a:latin typeface="Arial"/>
                  </a:rPr>
                  <a:t>{insta}</a:t>
                </a:r>
                <a:endParaRPr lang="en-ID" sz="1600" b="0" u="none" strike="noStrike" dirty="0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Text Box 19"/>
              <p:cNvSpPr/>
              <p:nvPr/>
            </p:nvSpPr>
            <p:spPr>
              <a:xfrm>
                <a:off x="2925360" y="1584360"/>
                <a:ext cx="1011960" cy="3371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600" b="0" u="none" strike="noStrike" dirty="0">
                    <a:solidFill>
                      <a:schemeClr val="lt1"/>
                    </a:solidFill>
                    <a:effectLst/>
                    <a:uFillTx/>
                    <a:latin typeface="Arial"/>
                  </a:rPr>
                  <a:t>{twitter}</a:t>
                </a:r>
                <a:endParaRPr lang="en-ID" sz="1600" b="0" u="none" strike="noStrike" dirty="0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Text Box 20"/>
              <p:cNvSpPr/>
              <p:nvPr/>
            </p:nvSpPr>
            <p:spPr>
              <a:xfrm>
                <a:off x="4199760" y="1587960"/>
                <a:ext cx="922320" cy="583321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600" b="0" u="none" strike="noStrike" dirty="0">
                    <a:solidFill>
                      <a:schemeClr val="lt1"/>
                    </a:solidFill>
                    <a:effectLst/>
                    <a:uFillTx/>
                    <a:latin typeface="Arial"/>
                  </a:rPr>
                  <a:t>{</a:t>
                </a:r>
                <a:r>
                  <a:rPr lang="en-US" sz="1600" b="0" u="none" strike="noStrike" dirty="0" err="1">
                    <a:solidFill>
                      <a:schemeClr val="lt1"/>
                    </a:solidFill>
                    <a:effectLst/>
                    <a:uFillTx/>
                    <a:latin typeface="Arial"/>
                  </a:rPr>
                  <a:t>facebook</a:t>
                </a:r>
                <a:r>
                  <a:rPr lang="en-US" sz="1600" b="0" u="none" strike="noStrike" dirty="0">
                    <a:solidFill>
                      <a:schemeClr val="lt1"/>
                    </a:solidFill>
                    <a:effectLst/>
                    <a:uFillTx/>
                    <a:latin typeface="Arial"/>
                  </a:rPr>
                  <a:t>}</a:t>
                </a:r>
                <a:endParaRPr lang="en-ID" sz="1600" b="0" u="none" strike="noStrike" dirty="0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Text Box 21"/>
              <p:cNvSpPr/>
              <p:nvPr/>
            </p:nvSpPr>
            <p:spPr>
              <a:xfrm>
                <a:off x="5474160" y="1603440"/>
                <a:ext cx="922320" cy="3371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600" b="0" u="none" strike="noStrike" dirty="0">
                    <a:solidFill>
                      <a:schemeClr val="lt1"/>
                    </a:solidFill>
                    <a:effectLst/>
                    <a:uFillTx/>
                    <a:latin typeface="Arial"/>
                  </a:rPr>
                  <a:t>{</a:t>
                </a:r>
                <a:r>
                  <a:rPr lang="en-US" sz="1600" b="0" u="none" strike="noStrike" dirty="0" err="1">
                    <a:solidFill>
                      <a:schemeClr val="lt1"/>
                    </a:solidFill>
                    <a:effectLst/>
                    <a:uFillTx/>
                    <a:latin typeface="Arial"/>
                  </a:rPr>
                  <a:t>tiktok</a:t>
                </a:r>
                <a:r>
                  <a:rPr lang="en-US" sz="1600" b="0" u="none" strike="noStrike" dirty="0">
                    <a:solidFill>
                      <a:schemeClr val="lt1"/>
                    </a:solidFill>
                    <a:effectLst/>
                    <a:uFillTx/>
                    <a:latin typeface="Arial"/>
                  </a:rPr>
                  <a:t>}</a:t>
                </a:r>
                <a:endParaRPr lang="en-ID" sz="1600" b="0" u="none" strike="noStrike" dirty="0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Text Box 22"/>
              <p:cNvSpPr/>
              <p:nvPr/>
            </p:nvSpPr>
            <p:spPr>
              <a:xfrm>
                <a:off x="6541920" y="1587240"/>
                <a:ext cx="922320" cy="583321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600" b="0" u="none" strike="noStrike" dirty="0">
                    <a:solidFill>
                      <a:schemeClr val="lt1"/>
                    </a:solidFill>
                    <a:effectLst/>
                    <a:uFillTx/>
                    <a:latin typeface="Arial"/>
                  </a:rPr>
                  <a:t>{</a:t>
                </a:r>
                <a:r>
                  <a:rPr lang="en-US" sz="1600" b="0" u="none" strike="noStrike" dirty="0" err="1">
                    <a:solidFill>
                      <a:schemeClr val="lt1"/>
                    </a:solidFill>
                    <a:effectLst/>
                    <a:uFillTx/>
                    <a:latin typeface="Arial"/>
                  </a:rPr>
                  <a:t>youtube</a:t>
                </a:r>
                <a:r>
                  <a:rPr lang="en-US" sz="1600" b="0" u="none" strike="noStrike" dirty="0">
                    <a:solidFill>
                      <a:schemeClr val="lt1"/>
                    </a:solidFill>
                    <a:effectLst/>
                    <a:uFillTx/>
                    <a:latin typeface="Arial"/>
                  </a:rPr>
                  <a:t>}</a:t>
                </a:r>
                <a:endParaRPr lang="en-ID" sz="1600" b="0" u="none" strike="noStrike" dirty="0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Text Box 23"/>
              <p:cNvSpPr/>
              <p:nvPr/>
            </p:nvSpPr>
            <p:spPr>
              <a:xfrm>
                <a:off x="1662840" y="1854000"/>
                <a:ext cx="701280" cy="244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000" b="1" u="none" strike="noStrike">
                    <a:solidFill>
                      <a:schemeClr val="lt1"/>
                    </a:solidFill>
                    <a:effectLst/>
                    <a:uFillTx/>
                    <a:latin typeface="Arial"/>
                  </a:rPr>
                  <a:t>Post</a:t>
                </a:r>
                <a:endParaRPr lang="en-ID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" name="Text Box 24"/>
              <p:cNvSpPr/>
              <p:nvPr/>
            </p:nvSpPr>
            <p:spPr>
              <a:xfrm>
                <a:off x="2927880" y="1853640"/>
                <a:ext cx="701280" cy="244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000" b="1" u="none" strike="noStrike">
                    <a:solidFill>
                      <a:schemeClr val="lt1"/>
                    </a:solidFill>
                    <a:effectLst/>
                    <a:uFillTx/>
                    <a:latin typeface="Arial"/>
                  </a:rPr>
                  <a:t>Post</a:t>
                </a:r>
                <a:endParaRPr lang="en-ID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" name="Text Box 25"/>
              <p:cNvSpPr/>
              <p:nvPr/>
            </p:nvSpPr>
            <p:spPr>
              <a:xfrm>
                <a:off x="4199400" y="1854000"/>
                <a:ext cx="701280" cy="244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000" b="1" u="none" strike="noStrike">
                    <a:solidFill>
                      <a:schemeClr val="lt1"/>
                    </a:solidFill>
                    <a:effectLst/>
                    <a:uFillTx/>
                    <a:latin typeface="Arial"/>
                  </a:rPr>
                  <a:t>Post</a:t>
                </a:r>
                <a:endParaRPr lang="en-ID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Text Box 26"/>
              <p:cNvSpPr/>
              <p:nvPr/>
            </p:nvSpPr>
            <p:spPr>
              <a:xfrm>
                <a:off x="5476320" y="1853640"/>
                <a:ext cx="701280" cy="244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000" b="1" u="none" strike="noStrike">
                    <a:solidFill>
                      <a:schemeClr val="lt1"/>
                    </a:solidFill>
                    <a:effectLst/>
                    <a:uFillTx/>
                    <a:latin typeface="Arial"/>
                  </a:rPr>
                  <a:t>Post</a:t>
                </a:r>
                <a:endParaRPr lang="en-ID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" name="Text Box 27"/>
              <p:cNvSpPr/>
              <p:nvPr/>
            </p:nvSpPr>
            <p:spPr>
              <a:xfrm>
                <a:off x="6536160" y="1839240"/>
                <a:ext cx="701280" cy="244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000" b="1" u="none" strike="noStrike">
                    <a:solidFill>
                      <a:schemeClr val="lt1"/>
                    </a:solidFill>
                    <a:effectLst/>
                    <a:uFillTx/>
                    <a:latin typeface="Arial"/>
                  </a:rPr>
                  <a:t>Post</a:t>
                </a:r>
                <a:endParaRPr lang="en-ID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08" name="Picture 35" descr="icons8-tiktok-100"/>
            <p:cNvPicPr/>
            <p:nvPr/>
          </p:nvPicPr>
          <p:blipFill>
            <a:blip r:embed="rId8"/>
            <a:stretch/>
          </p:blipFill>
          <p:spPr>
            <a:xfrm>
              <a:off x="5039280" y="1645200"/>
              <a:ext cx="456840" cy="45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9" name="Picture 36" descr="icons8-twitterx-100"/>
            <p:cNvPicPr/>
            <p:nvPr/>
          </p:nvPicPr>
          <p:blipFill>
            <a:blip r:embed="rId9"/>
            <a:stretch/>
          </p:blipFill>
          <p:spPr>
            <a:xfrm>
              <a:off x="2491200" y="1657080"/>
              <a:ext cx="456840" cy="4568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7"/>
          <p:cNvSpPr/>
          <p:nvPr/>
        </p:nvSpPr>
        <p:spPr>
          <a:xfrm>
            <a:off x="0" y="584280"/>
            <a:ext cx="12191760" cy="744480"/>
          </a:xfrm>
          <a:prstGeom prst="rect">
            <a:avLst/>
          </a:prstGeom>
          <a:solidFill>
            <a:srgbClr val="9A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ID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1" name="Picture 3" descr="Cartoon a cartoon of a child in uniform&#10;&#10;Description automatically generated"/>
          <p:cNvPicPr/>
          <p:nvPr/>
        </p:nvPicPr>
        <p:blipFill>
          <a:blip r:embed="rId3"/>
          <a:stretch/>
        </p:blipFill>
        <p:spPr>
          <a:xfrm>
            <a:off x="311040" y="90360"/>
            <a:ext cx="1163520" cy="16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Diamond 2"/>
          <p:cNvSpPr/>
          <p:nvPr/>
        </p:nvSpPr>
        <p:spPr>
          <a:xfrm>
            <a:off x="10639440" y="278280"/>
            <a:ext cx="1472760" cy="1302480"/>
          </a:xfrm>
          <a:prstGeom prst="diamond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ID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3" name="Picture 4" descr="A black and red shield with white text&#10;&#10;Description automatically generated"/>
          <p:cNvPicPr/>
          <p:nvPr/>
        </p:nvPicPr>
        <p:blipFill>
          <a:blip r:embed="rId4"/>
          <a:stretch/>
        </p:blipFill>
        <p:spPr>
          <a:xfrm>
            <a:off x="10639080" y="464400"/>
            <a:ext cx="1470600" cy="98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Box 11"/>
          <p:cNvSpPr/>
          <p:nvPr/>
        </p:nvSpPr>
        <p:spPr>
          <a:xfrm>
            <a:off x="1515240" y="591120"/>
            <a:ext cx="873612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rgbClr val="F1B316"/>
                </a:solidFill>
                <a:effectLst/>
                <a:uFillTx/>
                <a:latin typeface="Arial Black"/>
              </a:rPr>
              <a:t>Key Performance Indicators (KPI)</a:t>
            </a:r>
            <a:endParaRPr lang="en-ID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8"/>
          <p:cNvSpPr/>
          <p:nvPr/>
        </p:nvSpPr>
        <p:spPr>
          <a:xfrm>
            <a:off x="0" y="398880"/>
            <a:ext cx="12191760" cy="744480"/>
          </a:xfrm>
          <a:prstGeom prst="rect">
            <a:avLst/>
          </a:prstGeom>
          <a:solidFill>
            <a:srgbClr val="9A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ID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Diamond 9"/>
          <p:cNvSpPr/>
          <p:nvPr/>
        </p:nvSpPr>
        <p:spPr>
          <a:xfrm>
            <a:off x="10627200" y="154800"/>
            <a:ext cx="1472760" cy="1302480"/>
          </a:xfrm>
          <a:prstGeom prst="diamond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ID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7" name="Picture 10" descr="A black and red shield with white text&#10;&#10;Description automatically generated"/>
          <p:cNvPicPr/>
          <p:nvPr/>
        </p:nvPicPr>
        <p:blipFill>
          <a:blip r:embed="rId3"/>
          <a:stretch/>
        </p:blipFill>
        <p:spPr>
          <a:xfrm>
            <a:off x="10639080" y="316080"/>
            <a:ext cx="1470600" cy="98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Box 11"/>
          <p:cNvSpPr/>
          <p:nvPr/>
        </p:nvSpPr>
        <p:spPr>
          <a:xfrm>
            <a:off x="1515240" y="453240"/>
            <a:ext cx="873612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rgbClr val="F1B316"/>
                </a:solidFill>
                <a:effectLst/>
                <a:uFillTx/>
                <a:latin typeface="Arial Black"/>
              </a:rPr>
              <a:t>Digital Platform Indicators (DPI)</a:t>
            </a:r>
            <a:endParaRPr lang="en-ID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" name="Picture 12" descr="Cartoon a cartoon of a child in uniform&#10;&#10;Description automatically generated"/>
          <p:cNvPicPr/>
          <p:nvPr/>
        </p:nvPicPr>
        <p:blipFill>
          <a:blip r:embed="rId4"/>
          <a:stretch/>
        </p:blipFill>
        <p:spPr>
          <a:xfrm>
            <a:off x="311040" y="-6120"/>
            <a:ext cx="1163520" cy="1661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9"/>
          <p:cNvSpPr/>
          <p:nvPr/>
        </p:nvSpPr>
        <p:spPr>
          <a:xfrm>
            <a:off x="0" y="284400"/>
            <a:ext cx="12191760" cy="744480"/>
          </a:xfrm>
          <a:prstGeom prst="rect">
            <a:avLst/>
          </a:prstGeom>
          <a:solidFill>
            <a:srgbClr val="9A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ID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Diamond 10"/>
          <p:cNvSpPr/>
          <p:nvPr/>
        </p:nvSpPr>
        <p:spPr>
          <a:xfrm>
            <a:off x="10627200" y="40680"/>
            <a:ext cx="1472760" cy="1302480"/>
          </a:xfrm>
          <a:prstGeom prst="diamond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ID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2" name="Picture 11" descr="A black and red shield with white text&#10;&#10;Description automatically generated"/>
          <p:cNvPicPr/>
          <p:nvPr/>
        </p:nvPicPr>
        <p:blipFill>
          <a:blip r:embed="rId3"/>
          <a:stretch/>
        </p:blipFill>
        <p:spPr>
          <a:xfrm>
            <a:off x="10639080" y="201600"/>
            <a:ext cx="1470600" cy="98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Picture 13" descr="Cartoon a cartoon of a child in uniform&#10;&#10;Description automatically generated"/>
          <p:cNvPicPr/>
          <p:nvPr/>
        </p:nvPicPr>
        <p:blipFill>
          <a:blip r:embed="rId4"/>
          <a:stretch/>
        </p:blipFill>
        <p:spPr>
          <a:xfrm>
            <a:off x="311040" y="-106200"/>
            <a:ext cx="1163520" cy="16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Box 11"/>
          <p:cNvSpPr/>
          <p:nvPr/>
        </p:nvSpPr>
        <p:spPr>
          <a:xfrm>
            <a:off x="1515240" y="362520"/>
            <a:ext cx="873612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rgbClr val="F1B316"/>
                </a:solidFill>
                <a:effectLst/>
                <a:uFillTx/>
                <a:latin typeface="Arial Black"/>
              </a:rPr>
              <a:t>Digital Interaction Indicators (DII)</a:t>
            </a:r>
            <a:endParaRPr lang="en-ID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8"/>
          <p:cNvSpPr/>
          <p:nvPr/>
        </p:nvSpPr>
        <p:spPr>
          <a:xfrm>
            <a:off x="0" y="284400"/>
            <a:ext cx="12191760" cy="744480"/>
          </a:xfrm>
          <a:prstGeom prst="rect">
            <a:avLst/>
          </a:prstGeom>
          <a:solidFill>
            <a:srgbClr val="9A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ID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Diamond 9"/>
          <p:cNvSpPr/>
          <p:nvPr/>
        </p:nvSpPr>
        <p:spPr>
          <a:xfrm>
            <a:off x="10627200" y="40680"/>
            <a:ext cx="1472760" cy="1302480"/>
          </a:xfrm>
          <a:prstGeom prst="diamond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ID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7" name="Picture 10" descr="A black and red shield with white text&#10;&#10;Description automatically generated"/>
          <p:cNvPicPr/>
          <p:nvPr/>
        </p:nvPicPr>
        <p:blipFill>
          <a:blip r:embed="rId3"/>
          <a:stretch/>
        </p:blipFill>
        <p:spPr>
          <a:xfrm>
            <a:off x="10639080" y="201600"/>
            <a:ext cx="1470600" cy="98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Picture 12" descr="Cartoon a cartoon of a child in uniform&#10;&#10;Description automatically generated"/>
          <p:cNvPicPr/>
          <p:nvPr/>
        </p:nvPicPr>
        <p:blipFill>
          <a:blip r:embed="rId4"/>
          <a:stretch/>
        </p:blipFill>
        <p:spPr>
          <a:xfrm>
            <a:off x="311040" y="-106200"/>
            <a:ext cx="1163520" cy="16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Box 11"/>
          <p:cNvSpPr/>
          <p:nvPr/>
        </p:nvSpPr>
        <p:spPr>
          <a:xfrm>
            <a:off x="1515240" y="319680"/>
            <a:ext cx="873612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rgbClr val="F1B316"/>
                </a:solidFill>
                <a:effectLst/>
                <a:uFillTx/>
                <a:latin typeface="Arial Black"/>
              </a:rPr>
              <a:t>Public Perception Indicators (PPI)</a:t>
            </a:r>
            <a:endParaRPr lang="en-ID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2125</TotalTime>
  <Words>240</Words>
  <Application>Microsoft Office PowerPoint</Application>
  <PresentationFormat>Widescreen</PresentationFormat>
  <Paragraphs>31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Wildan Khoirul Amri</dc:creator>
  <dc:description/>
  <cp:lastModifiedBy>deptha putera</cp:lastModifiedBy>
  <cp:revision>53</cp:revision>
  <dcterms:created xsi:type="dcterms:W3CDTF">2025-01-15T08:11:01Z</dcterms:created>
  <dcterms:modified xsi:type="dcterms:W3CDTF">2025-06-05T06:09:53Z</dcterms:modified>
  <dc:language>en-ID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Widescreen</vt:lpwstr>
  </property>
  <property fmtid="{D5CDD505-2E9C-101B-9397-08002B2CF9AE}" pid="4" name="Slides">
    <vt:i4>6</vt:i4>
  </property>
</Properties>
</file>